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D8B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Walmart USA – Advanced Software Engineering</a:t>
            </a:r>
          </a:p>
          <a:p>
            <a:pPr>
              <a:spcBef>
                <a:spcPts val="1000"/>
              </a:spcBef>
              <a:defRPr sz="1800">
                <a:solidFill>
                  <a:srgbClr val="D8B4FE"/>
                </a:solidFill>
              </a:defRPr>
            </a:pPr>
            <a:r>
              <a:t>Virtual Internship Technical Project &amp; Assessment Presentation</a:t>
            </a:r>
          </a:p>
          <a:p>
            <a:pPr>
              <a:spcBef>
                <a:spcPts val="2000"/>
              </a:spcBef>
              <a:defRPr sz="1300">
                <a:solidFill>
                  <a:srgbClr val="DDD6FE"/>
                </a:solidFill>
              </a:defRPr>
            </a:pPr>
            <a:r>
              <a:t>Evaluation Criteria: Internship Documentation, Slide Presentation &amp; Viva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5029200"/>
            <a:ext cx="9601200" cy="1097280"/>
          </a:xfrm>
          <a:prstGeom prst="roundRect">
            <a:avLst/>
          </a:prstGeom>
          <a:solidFill>
            <a:srgbClr val="3A0C78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Submitted By: Himanshi Kathuria  |  Program: B.Tech Computer Science &amp; Engineering (5th Sem)</a:t>
            </a:r>
            <a:br/>
            <a:r>
              <a:t>Virtual Platform: Forage (Walmart Simulation)  |  Domain: Backend Architecture &amp; Data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WALMART ADVANCED SOFTWARE ENGINEERING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1D95"/>
                </a:solidFill>
              </a:defRPr>
            </a:pPr>
            <a:r>
              <a:t>1. Executive Summary &amp;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645920"/>
          </a:xfrm>
          <a:prstGeom prst="round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EXECUTIVE OVERVIEW</a:t>
            </a:r>
          </a:p>
          <a:p>
            <a:pPr>
              <a:spcBef>
                <a:spcPts val="600"/>
              </a:spcBef>
              <a:defRPr sz="1100">
                <a:solidFill>
                  <a:srgbClr val="1E1B4B"/>
                </a:solidFill>
              </a:defRPr>
            </a:pPr>
            <a:r>
              <a:t>This presentation outlines the key engineering deliverables completed during the Walmart USA Job Simulation on Forage. The technical scope encompasses high-fanout data structure optimization, SOLID-based design patterns, 3NF relational schema construction, and automated Python ETL scripts engineered for high-throughput supply chain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328416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Core Runtimes &amp; Languages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Java 17+ (OOP, Generics)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Python 3.x (ETL, CSV &amp; SQLite)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SQL (DDL, Integrity Checks)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474720"/>
            <a:ext cx="3328416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C1D95"/>
                </a:solidFill>
              </a:defRPr>
            </a:pPr>
            <a:r>
              <a:t>Architecture &amp; Engineering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Strategy Design Pattern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SOLID Principles Standards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Custom 2^x Max Heap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474720"/>
            <a:ext cx="3328416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Data &amp; Infrastructure Tools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SQLite3 &amp; PostgreSQL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Redis &amp; Elasticsearch</a:t>
            </a:r>
          </a:p>
          <a:p>
            <a:pPr>
              <a:spcBef>
                <a:spcPts val="800"/>
              </a:spcBef>
              <a:defRPr sz="1050">
                <a:solidFill>
                  <a:srgbClr val="1E1B4B"/>
                </a:solidFill>
              </a:defRPr>
            </a:pPr>
            <a:r>
              <a:t>• Git Version Control &amp; PlantUML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WALMART ADVANCED SOFTWARE ENGINEERING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1D95"/>
                </a:solidFill>
              </a:defRPr>
            </a:pPr>
            <a:r>
              <a:t>2. Task 1: Non-Binary Data Structures (2^x Max Heap)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PROBLEM CONTEXT &amp; DESIGN GOAL</a:t>
            </a:r>
          </a:p>
          <a:p>
            <a:pPr>
              <a:spcBef>
                <a:spcPts val="1000"/>
              </a:spcBef>
              <a:defRPr b="1" sz="1100">
                <a:solidFill>
                  <a:srgbClr val="4C1D95"/>
                </a:solidFill>
              </a:defRPr>
            </a:pPr>
            <a:r>
              <a:t>• Binary Heap Bottleneck: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Standard binary heaps constrain each parent node to 2 children, resulting in higher tree depth during massive data processing.</a:t>
            </a:r>
          </a:p>
          <a:p>
            <a:pPr>
              <a:spcBef>
                <a:spcPts val="1000"/>
              </a:spcBef>
              <a:defRPr b="1" sz="1100">
                <a:solidFill>
                  <a:srgbClr val="4C1D95"/>
                </a:solidFill>
              </a:defRPr>
            </a:pPr>
            <a:r>
              <a:t>• Multi-Child Heap Solution: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Engineered a custom Max Heap where each parent node can support up to 2^x dynamic child nodes.</a:t>
            </a:r>
          </a:p>
          <a:p>
            <a:pPr>
              <a:spcBef>
                <a:spcPts val="1000"/>
              </a:spcBef>
              <a:defRPr b="1" sz="1100">
                <a:solidFill>
                  <a:srgbClr val="4C1D95"/>
                </a:solidFill>
              </a:defRPr>
            </a:pPr>
            <a:r>
              <a:t>• Configurable Parameter (x):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Allowed dynamic configuration of exponent 'x' at runtime (e.g., x=1 yields 2 children, x=2 yields 4 children, x=3 yields 8 children).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C1D95"/>
                </a:solidFill>
              </a:defRPr>
            </a:pPr>
            <a:r>
              <a:t>IMPLEMENTATION HIGHLIGHTS (PowerOfTwoMaxHeap.java)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Array Index Calculation Logic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Child indices mapped dynamically using: childIndex = (2^x * parentIndex) + k + 1 (for 1 &lt;= k &lt;= 2^x).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Modified heapifyUp() &amp; heapifyDown()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Re-architected percolate operations to compare all 2^x children for maintaining Max Heap properties.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Efficiency &amp; Complexity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Sustained logarithmic time complexity for popMax and insert operations while drastically lowering tree depth.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System Impact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Significantly accelerated batch data retrieval in real-time streaming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WALMART ADVANCED SOFTWARE ENGINEERING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1D95"/>
                </a:solidFill>
              </a:defRPr>
            </a:pPr>
            <a:r>
              <a:t>3. Task 2: Modular Architecture &amp; Strategy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C1D95"/>
                </a:solidFill>
              </a:defRPr>
            </a:pPr>
            <a:r>
              <a:t>Strategy Pattern Design</a:t>
            </a:r>
          </a:p>
          <a:p>
            <a:pPr>
              <a:spcBef>
                <a:spcPts val="400"/>
              </a:spcBef>
              <a:defRPr sz="1050">
                <a:solidFill>
                  <a:srgbClr val="1E1B4B"/>
                </a:solidFill>
              </a:defRPr>
            </a:pPr>
            <a:r>
              <a:t>Isolated core processing logic behind clean interface boundaries, allowing seamless switching of processing modes at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9728" cy="12801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SOLID Principles Compliance</a:t>
            </a:r>
          </a:p>
          <a:p>
            <a:pPr>
              <a:spcBef>
                <a:spcPts val="400"/>
              </a:spcBef>
              <a:defRPr sz="1050">
                <a:solidFill>
                  <a:srgbClr val="1E1B4B"/>
                </a:solidFill>
              </a:defRPr>
            </a:pPr>
            <a:r>
              <a:t>Enforced Single Responsibility and Open-Closed principles across data transformation pipelines and storage abstractions.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C1D95"/>
                </a:solidFill>
              </a:defRPr>
            </a:pPr>
            <a:r>
              <a:t>Extensible Database Plugs</a:t>
            </a:r>
          </a:p>
          <a:p>
            <a:pPr>
              <a:spcBef>
                <a:spcPts val="400"/>
              </a:spcBef>
              <a:defRPr sz="1050">
                <a:solidFill>
                  <a:srgbClr val="1E1B4B"/>
                </a:solidFill>
              </a:defRPr>
            </a:pPr>
            <a:r>
              <a:t>Engineered uniform connectors supporting PostgreSQL, Redis, and Elasticsearch backends in DataProcessorSystem.java.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109728" cy="12801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6035040"/>
            <a:ext cx="10728655" cy="502920"/>
          </a:xfrm>
          <a:prstGeom prst="round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C1D95"/>
                </a:solidFill>
              </a:defRPr>
            </a:pPr>
            <a:r>
              <a:t>Supported Operational Modes:  [ DUMP ] - Raw Output Streaming  |  [ PASSTHROUGH ] - Direct Pipeline  |  [ VALIDATE ] - Business Rule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WALMART ADVANCED SOFTWARE ENGINEERING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1D95"/>
                </a:solidFill>
              </a:defRPr>
            </a:pPr>
            <a:r>
              <a:t>4. Task 3: Database Architecture (3NF Normalization)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C1D95"/>
                </a:solidFill>
              </a:defRPr>
            </a:pPr>
            <a:r>
              <a:t>SCHEMA DESIGN &amp; ENTITIES (schema.sql)</a:t>
            </a:r>
          </a:p>
          <a:p>
            <a:pPr>
              <a:spcBef>
                <a:spcPts val="800"/>
              </a:spcBef>
              <a:defRPr b="1" sz="1100">
                <a:solidFill>
                  <a:srgbClr val="7C3AED"/>
                </a:solidFill>
              </a:defRPr>
            </a:pPr>
            <a:r>
              <a:t>❖ product Table</a:t>
            </a:r>
          </a:p>
          <a:p>
            <a:pPr>
              <a:spcBef>
                <a:spcPts val="200"/>
              </a:spcBef>
              <a:defRPr sz="950">
                <a:solidFill>
                  <a:srgbClr val="1E1B4B"/>
                </a:solidFill>
              </a:defRPr>
            </a:pPr>
            <a:r>
              <a:t>PRIMARY KEY: name (TEXT)</a:t>
            </a:r>
            <a:br/>
            <a:r>
              <a:t>Attributes: type (TEXT)</a:t>
            </a:r>
            <a:br/>
            <a:r>
              <a:t>Stores distinct retail items in the logistics network.</a:t>
            </a:r>
          </a:p>
          <a:p>
            <a:pPr>
              <a:spcBef>
                <a:spcPts val="800"/>
              </a:spcBef>
              <a:defRPr b="1" sz="1100">
                <a:solidFill>
                  <a:srgbClr val="7C3AED"/>
                </a:solidFill>
              </a:defRPr>
            </a:pPr>
            <a:r>
              <a:t>❖ shipment Table</a:t>
            </a:r>
          </a:p>
          <a:p>
            <a:pPr>
              <a:spcBef>
                <a:spcPts val="200"/>
              </a:spcBef>
              <a:defRPr sz="950">
                <a:solidFill>
                  <a:srgbClr val="1E1B4B"/>
                </a:solidFill>
              </a:defRPr>
            </a:pPr>
            <a:r>
              <a:t>PRIMARY KEY: shipment_id (TEXT)</a:t>
            </a:r>
            <a:br/>
            <a:r>
              <a:t>Attributes: origin, destination</a:t>
            </a:r>
            <a:br/>
            <a:r>
              <a:t>Tracks origin and target distribution points.</a:t>
            </a:r>
          </a:p>
          <a:p>
            <a:pPr>
              <a:spcBef>
                <a:spcPts val="800"/>
              </a:spcBef>
              <a:defRPr b="1" sz="1100">
                <a:solidFill>
                  <a:srgbClr val="7C3AED"/>
                </a:solidFill>
              </a:defRPr>
            </a:pPr>
            <a:r>
              <a:t>❖ shipment_item Table</a:t>
            </a:r>
          </a:p>
          <a:p>
            <a:pPr>
              <a:spcBef>
                <a:spcPts val="200"/>
              </a:spcBef>
              <a:defRPr sz="950">
                <a:solidFill>
                  <a:srgbClr val="1E1B4B"/>
                </a:solidFill>
              </a:defRPr>
            </a:pPr>
            <a:r>
              <a:t>FOREIGN KEYS: shipment_id, product_name</a:t>
            </a:r>
            <a:br/>
            <a:r>
              <a:t>Attributes: quantity (INTEGER)</a:t>
            </a:r>
            <a:br/>
            <a:r>
              <a:t>Junction table mapping item quantities per shipment.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NORMALIZATION &amp; DATA INTEGRITY ADVANTAGES</a:t>
            </a:r>
          </a:p>
          <a:p>
            <a:pPr>
              <a:spcBef>
                <a:spcPts val="800"/>
              </a:spcBef>
              <a:defRPr b="1" sz="1100">
                <a:solidFill>
                  <a:srgbClr val="4C1D95"/>
                </a:solidFill>
              </a:defRPr>
            </a:pPr>
            <a:r>
              <a:t>✔ Redundancy Reduction</a:t>
            </a:r>
          </a:p>
          <a:p>
            <a:pPr>
              <a:spcBef>
                <a:spcPts val="200"/>
              </a:spcBef>
              <a:defRPr sz="950">
                <a:solidFill>
                  <a:srgbClr val="1E1B4B"/>
                </a:solidFill>
              </a:defRPr>
            </a:pPr>
            <a:r>
              <a:t>Eliminated repetitive text storage by maintaining product types and shipment locations in normalized lookup tables.</a:t>
            </a:r>
          </a:p>
          <a:p>
            <a:pPr>
              <a:spcBef>
                <a:spcPts val="800"/>
              </a:spcBef>
              <a:defRPr b="1" sz="1100">
                <a:solidFill>
                  <a:srgbClr val="4C1D95"/>
                </a:solidFill>
              </a:defRPr>
            </a:pPr>
            <a:r>
              <a:t>✔ Anomaly Prevention</a:t>
            </a:r>
          </a:p>
          <a:p>
            <a:pPr>
              <a:spcBef>
                <a:spcPts val="200"/>
              </a:spcBef>
              <a:defRPr sz="950">
                <a:solidFill>
                  <a:srgbClr val="1E1B4B"/>
                </a:solidFill>
              </a:defRPr>
            </a:pPr>
            <a:r>
              <a:t>Updating product attributes or shipment paths requires modifying single records without risking data inconsistency.</a:t>
            </a:r>
          </a:p>
          <a:p>
            <a:pPr>
              <a:spcBef>
                <a:spcPts val="800"/>
              </a:spcBef>
              <a:defRPr b="1" sz="1100">
                <a:solidFill>
                  <a:srgbClr val="4C1D95"/>
                </a:solidFill>
              </a:defRPr>
            </a:pPr>
            <a:r>
              <a:t>✔ Referential Integrity Constraints</a:t>
            </a:r>
          </a:p>
          <a:p>
            <a:pPr>
              <a:spcBef>
                <a:spcPts val="200"/>
              </a:spcBef>
              <a:defRPr sz="950">
                <a:solidFill>
                  <a:srgbClr val="1E1B4B"/>
                </a:solidFill>
              </a:defRPr>
            </a:pPr>
            <a:r>
              <a:t>Foreign Key rules ensure no shipment_item record references an invalid product or shipment.</a:t>
            </a:r>
          </a:p>
          <a:p>
            <a:pPr>
              <a:spcBef>
                <a:spcPts val="800"/>
              </a:spcBef>
              <a:defRPr b="1" sz="1100">
                <a:solidFill>
                  <a:srgbClr val="4C1D95"/>
                </a:solidFill>
              </a:defRPr>
            </a:pPr>
            <a:r>
              <a:t>✔ Enterprise Reliability</a:t>
            </a:r>
          </a:p>
          <a:p>
            <a:pPr>
              <a:spcBef>
                <a:spcPts val="200"/>
              </a:spcBef>
              <a:defRPr sz="950">
                <a:solidFill>
                  <a:srgbClr val="1E1B4B"/>
                </a:solidFill>
              </a:defRPr>
            </a:pPr>
            <a:r>
              <a:t>Structured specifically for high-frequency transactional logistics across supply chain nodes.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WALMART ADVANCED SOFTWARE ENGINEERING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1D95"/>
                </a:solidFill>
              </a:defRPr>
            </a:pPr>
            <a:r>
              <a:t>5. Task 4: Python Data Munging &amp; ETL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DATA SOURCES &amp; ETL GOALS</a:t>
            </a:r>
          </a:p>
          <a:p>
            <a:pPr>
              <a:spcBef>
                <a:spcPts val="1000"/>
              </a:spcBef>
              <a:defRPr b="1" sz="1100">
                <a:solidFill>
                  <a:srgbClr val="4C1D95"/>
                </a:solidFill>
              </a:defRPr>
            </a:pPr>
            <a:r>
              <a:t>• shipping_data_0.csv: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Contains item inventory catalog and product categories.</a:t>
            </a:r>
          </a:p>
          <a:p>
            <a:pPr>
              <a:spcBef>
                <a:spcPts val="1000"/>
              </a:spcBef>
              <a:defRPr b="1" sz="1100">
                <a:solidFill>
                  <a:srgbClr val="4C1D95"/>
                </a:solidFill>
              </a:defRPr>
            </a:pPr>
            <a:r>
              <a:t>• shipping_data_1.csv: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Contains active shipment IDs, product names, and order quantities.</a:t>
            </a:r>
          </a:p>
          <a:p>
            <a:pPr>
              <a:spcBef>
                <a:spcPts val="1000"/>
              </a:spcBef>
              <a:defRPr b="1" sz="1100">
                <a:solidFill>
                  <a:srgbClr val="4C1D95"/>
                </a:solidFill>
              </a:defRPr>
            </a:pPr>
            <a:r>
              <a:t>• shipping_data_2.csv: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Contains shipment IDs alongside origin and destination nodes.</a:t>
            </a:r>
          </a:p>
          <a:p>
            <a:pPr>
              <a:spcBef>
                <a:spcPts val="1000"/>
              </a:spcBef>
              <a:defRPr b="1" sz="1100">
                <a:solidFill>
                  <a:srgbClr val="4C1D95"/>
                </a:solidFill>
              </a:defRPr>
            </a:pPr>
            <a:r>
              <a:t>• ETL Mission: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Consolidate unorganized CSV files, parse corrupted data, and populate the target SQLite database (shipping.db).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4225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C1D95"/>
                </a:solidFill>
              </a:defRPr>
            </a:pPr>
            <a:r>
              <a:t>PYTHON SOLUTION ARCHITECTURE (Data_Munger.py)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Standard Python Modules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Implemented pipeline using built-in sqlite3 and csv modules with UTF-8 character handling.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Fault-Tolerant safe_int() Helper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Wrapped numerical parsing inside try-except blocks to default invalid values safely without script failure.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In-Memory Dictionary Lookups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Pre-indexed shipment origin/destination relationships in memory for O(1) relational mapping.</a:t>
            </a:r>
          </a:p>
          <a:p>
            <a:pPr>
              <a:spcBef>
                <a:spcPts val="1000"/>
              </a:spcBef>
              <a:defRPr b="1" sz="1100">
                <a:solidFill>
                  <a:srgbClr val="7C3AED"/>
                </a:solidFill>
              </a:defRPr>
            </a:pPr>
            <a:r>
              <a:t>✔ Idempotent Database Population</a:t>
            </a:r>
          </a:p>
          <a:p>
            <a:pPr>
              <a:spcBef>
                <a:spcPts val="200"/>
              </a:spcBef>
              <a:defRPr sz="1000">
                <a:solidFill>
                  <a:srgbClr val="1E1B4B"/>
                </a:solidFill>
              </a:defRPr>
            </a:pPr>
            <a:r>
              <a:t>Leveraged INSERT OR IGNORE statements to prevent primary key collision crashes during batch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WALMART ADVANCED SOFTWARE ENGINEERING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C1D95"/>
                </a:solidFill>
              </a:defRPr>
            </a:pPr>
            <a:r>
              <a:t>6. Key Takeaways &amp; Technical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1. High-Fanout Data Structures</a:t>
            </a:r>
          </a:p>
          <a:p>
            <a:pPr>
              <a:spcBef>
                <a:spcPts val="600"/>
              </a:spcBef>
              <a:defRPr sz="1050">
                <a:solidFill>
                  <a:srgbClr val="1E1B4B"/>
                </a:solidFill>
              </a:defRPr>
            </a:pPr>
            <a:r>
              <a:t>Mastered dynamic array index navigation and tree depth reduction strategies using configurable 2^x heaps in Java.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C1D95"/>
                </a:solidFill>
              </a:defRPr>
            </a:pPr>
            <a:r>
              <a:t>2. Enterprise Microservice Architecture</a:t>
            </a:r>
          </a:p>
          <a:p>
            <a:pPr>
              <a:spcBef>
                <a:spcPts val="600"/>
              </a:spcBef>
              <a:defRPr sz="1050">
                <a:solidFill>
                  <a:srgbClr val="1E1B4B"/>
                </a:solidFill>
              </a:defRPr>
            </a:pPr>
            <a:r>
              <a:t>Implemented Strategy Design Pattern and SOLID principles to construct modular, pluggable backend processor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C1D95"/>
                </a:solidFill>
              </a:defRPr>
            </a:pPr>
            <a:r>
              <a:t>3. Relational Schema Normalization</a:t>
            </a:r>
          </a:p>
          <a:p>
            <a:pPr>
              <a:spcBef>
                <a:spcPts val="600"/>
              </a:spcBef>
              <a:defRPr sz="1050">
                <a:solidFill>
                  <a:srgbClr val="1E1B4B"/>
                </a:solidFill>
              </a:defRPr>
            </a:pPr>
            <a:r>
              <a:t>Designed 3NF database structures with strict constraint enforcement to prevent operational data anomalies.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C3AED"/>
                </a:solidFill>
              </a:defRPr>
            </a:pPr>
            <a:r>
              <a:t>4. Robust Python Data Engineering</a:t>
            </a:r>
          </a:p>
          <a:p>
            <a:pPr>
              <a:spcBef>
                <a:spcPts val="600"/>
              </a:spcBef>
              <a:defRPr sz="1050">
                <a:solidFill>
                  <a:srgbClr val="1E1B4B"/>
                </a:solidFill>
              </a:defRPr>
            </a:pPr>
            <a:r>
              <a:t>Engineered fault-tolerant ETL pipelines using safe type-casting and in-memory mappings for real-world supply chain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8B4FE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Walmart USA – Advanced Software Engineering Virtual Experience</a:t>
            </a:r>
          </a:p>
          <a:p>
            <a:pPr algn="ctr">
              <a:spcBef>
                <a:spcPts val="3000"/>
              </a:spcBef>
              <a:defRPr sz="1400">
                <a:solidFill>
                  <a:srgbClr val="DDD6FE"/>
                </a:solidFill>
              </a:defRPr>
            </a:pPr>
            <a:r>
              <a:t>Questions &amp; Answers (Q&amp;A) Session with the Evaluation Panel</a:t>
            </a:r>
          </a:p>
          <a:p>
            <a:pPr algn="ctr">
              <a:spcBef>
                <a:spcPts val="1500"/>
              </a:spcBef>
              <a:defRPr sz="1200">
                <a:solidFill>
                  <a:srgbClr val="D8B4FE"/>
                </a:solidFill>
              </a:defRPr>
            </a:pPr>
            <a:r>
              <a:t>Student Name: Himanshi Kathuria  |  B.Tech Computer Science &amp;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